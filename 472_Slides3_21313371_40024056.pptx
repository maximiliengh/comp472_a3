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3" r:id="rId1"/>
  </p:sldMasterIdLst>
  <p:sldIdLst>
    <p:sldId id="275" r:id="rId2"/>
    <p:sldId id="257" r:id="rId3"/>
    <p:sldId id="260" r:id="rId4"/>
    <p:sldId id="276" r:id="rId5"/>
    <p:sldId id="262" r:id="rId6"/>
    <p:sldId id="279" r:id="rId7"/>
    <p:sldId id="280" r:id="rId8"/>
    <p:sldId id="261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63" r:id="rId20"/>
    <p:sldId id="274" r:id="rId21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5BD-4425-ACCF-4BB953225DF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152</c:v>
                </c:pt>
                <c:pt idx="1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48-4605-AC74-FA66972F7C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04969455"/>
        <c:axId val="1694549615"/>
      </c:barChart>
      <c:catAx>
        <c:axId val="180496945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Labels</a:t>
                </a:r>
              </a:p>
            </c:rich>
          </c:tx>
          <c:layout>
            <c:manualLayout>
              <c:xMode val="edge"/>
              <c:yMode val="edge"/>
              <c:x val="1.0543658425317067E-2"/>
              <c:y val="0.373083812376213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4549615"/>
        <c:crosses val="autoZero"/>
        <c:auto val="1"/>
        <c:lblAlgn val="ctr"/>
        <c:lblOffset val="100"/>
        <c:noMultiLvlLbl val="0"/>
      </c:catAx>
      <c:valAx>
        <c:axId val="16945496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Number of documents</a:t>
                </a:r>
              </a:p>
            </c:rich>
          </c:tx>
          <c:layout>
            <c:manualLayout>
              <c:xMode val="edge"/>
              <c:yMode val="edge"/>
              <c:x val="0.35636444694983171"/>
              <c:y val="0.9112638036809815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969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383-4CA5-9822-FB36B7AAA0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A2-4215-A488-B9F111E2D0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7997583"/>
        <c:axId val="2011650719"/>
      </c:barChart>
      <c:catAx>
        <c:axId val="18979975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Labels</a:t>
                </a:r>
              </a:p>
            </c:rich>
          </c:tx>
          <c:layout>
            <c:manualLayout>
              <c:xMode val="edge"/>
              <c:yMode val="edge"/>
              <c:x val="2.6359146063292668E-3"/>
              <c:y val="0.3485440697721152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1650719"/>
        <c:crosses val="autoZero"/>
        <c:auto val="1"/>
        <c:lblAlgn val="ctr"/>
        <c:lblOffset val="100"/>
        <c:noMultiLvlLbl val="0"/>
      </c:catAx>
      <c:valAx>
        <c:axId val="20116507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Number of documents</a:t>
                </a:r>
              </a:p>
            </c:rich>
          </c:tx>
          <c:layout>
            <c:manualLayout>
              <c:xMode val="edge"/>
              <c:yMode val="edge"/>
              <c:x val="0.36626241007276372"/>
              <c:y val="0.9085945035526633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7997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EC85-44D1-81E1-1189896E00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NB-BOW-OV</c:v>
                </c:pt>
                <c:pt idx="1">
                  <c:v>NB-BOW-FV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4304</c:v>
                </c:pt>
                <c:pt idx="1">
                  <c:v>1193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85-44D1-81E1-1189896E00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73531679"/>
        <c:axId val="1943572783"/>
      </c:barChart>
      <c:catAx>
        <c:axId val="18735316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Models</a:t>
                </a:r>
              </a:p>
            </c:rich>
          </c:tx>
          <c:layout>
            <c:manualLayout>
              <c:xMode val="edge"/>
              <c:yMode val="edge"/>
              <c:x val="2.6359146063292668E-3"/>
              <c:y val="0.339059562339983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3572783"/>
        <c:crosses val="autoZero"/>
        <c:auto val="1"/>
        <c:lblAlgn val="ctr"/>
        <c:lblOffset val="100"/>
        <c:noMultiLvlLbl val="0"/>
      </c:catAx>
      <c:valAx>
        <c:axId val="1943572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Number</a:t>
                </a:r>
                <a:r>
                  <a:rPr lang="en-CA" baseline="0" dirty="0"/>
                  <a:t> of words</a:t>
                </a:r>
                <a:endParaRPr lang="en-CA" dirty="0"/>
              </a:p>
            </c:rich>
          </c:tx>
          <c:layout>
            <c:manualLayout>
              <c:xMode val="edge"/>
              <c:yMode val="edge"/>
              <c:x val="0.44050948285846053"/>
              <c:y val="0.9063558282208589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531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43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52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409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233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209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248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509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951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306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462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12/13/2020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8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896" r:id="rId6"/>
    <p:sldLayoutId id="2147483892" r:id="rId7"/>
    <p:sldLayoutId id="2147483893" r:id="rId8"/>
    <p:sldLayoutId id="2147483894" r:id="rId9"/>
    <p:sldLayoutId id="2147483895" r:id="rId10"/>
    <p:sldLayoutId id="21474838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3" descr="Chart&#10;&#10;Description automatically generated">
            <a:extLst>
              <a:ext uri="{FF2B5EF4-FFF2-40B4-BE49-F238E27FC236}">
                <a16:creationId xmlns:a16="http://schemas.microsoft.com/office/drawing/2014/main" id="{28D8DF7D-A03A-4B67-B73F-45C5860B47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2F9B1C2-7D20-4F91-A660-197C98B9A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39445"/>
            <a:ext cx="6114985" cy="2298326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2BDA5-48D8-42C6-9DA8-28BDBE02E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19" y="2100845"/>
            <a:ext cx="4670234" cy="1975527"/>
          </a:xfrm>
        </p:spPr>
        <p:txBody>
          <a:bodyPr anchor="ctr">
            <a:normAutofit/>
          </a:bodyPr>
          <a:lstStyle/>
          <a:p>
            <a:pPr algn="l"/>
            <a:r>
              <a:rPr lang="en-CA" sz="5600" dirty="0"/>
              <a:t>COMP 472</a:t>
            </a:r>
            <a:br>
              <a:rPr lang="en-CA" sz="5600" dirty="0"/>
            </a:br>
            <a:r>
              <a:rPr lang="en-CA" sz="5600" dirty="0"/>
              <a:t>assignment 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9C4E6E-ECA4-40E5-A54E-13E92B678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4237771"/>
            <a:ext cx="6114982" cy="809351"/>
          </a:xfrm>
          <a:prstGeom prst="rect">
            <a:avLst/>
          </a:prstGeom>
          <a:solidFill>
            <a:schemeClr val="tx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BCA1A-0FBB-4AA7-9F72-3BCECFFB4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19" y="4183121"/>
            <a:ext cx="4670233" cy="909843"/>
          </a:xfrm>
        </p:spPr>
        <p:txBody>
          <a:bodyPr anchor="ctr">
            <a:normAutofit/>
          </a:bodyPr>
          <a:lstStyle/>
          <a:p>
            <a:pPr algn="l">
              <a:lnSpc>
                <a:spcPct val="91000"/>
              </a:lnSpc>
            </a:pPr>
            <a:r>
              <a:rPr lang="en-CA" sz="2400" dirty="0"/>
              <a:t>Maximilien Fathi (21313371)   Zihan Zhou (40024056)</a:t>
            </a:r>
          </a:p>
        </p:txBody>
      </p:sp>
    </p:spTree>
    <p:extLst>
      <p:ext uri="{BB962C8B-B14F-4D97-AF65-F5344CB8AC3E}">
        <p14:creationId xmlns:p14="http://schemas.microsoft.com/office/powerpoint/2010/main" val="1029670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8FB36D-73B3-45EF-8CD4-221CCC8BE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7835D7-DF12-420F-843A-1C5083D2B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E7C43-284B-42F1-A665-135C565D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CA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9A6F2-7905-41FA-AF7B-4D1787576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784143"/>
            <a:ext cx="5782586" cy="3433031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91000"/>
              </a:lnSpc>
            </a:pPr>
            <a:r>
              <a:rPr lang="en-CA" dirty="0"/>
              <a:t>We will look at:</a:t>
            </a:r>
          </a:p>
          <a:p>
            <a:pPr marL="514350" indent="-514350">
              <a:lnSpc>
                <a:spcPct val="91000"/>
              </a:lnSpc>
              <a:buFont typeface="+mj-lt"/>
              <a:buAutoNum type="arabicParenR"/>
            </a:pPr>
            <a:r>
              <a:rPr lang="en-CA" u="sng" dirty="0"/>
              <a:t>Analysis of datasets</a:t>
            </a:r>
            <a:r>
              <a:rPr lang="en-CA" dirty="0"/>
              <a:t> provided for the assignment</a:t>
            </a:r>
          </a:p>
          <a:p>
            <a:pPr marL="514350" indent="-514350">
              <a:lnSpc>
                <a:spcPct val="91000"/>
              </a:lnSpc>
              <a:buFont typeface="+mj-lt"/>
              <a:buAutoNum type="arabicParenR"/>
            </a:pPr>
            <a:r>
              <a:rPr lang="en-CA" u="sng" dirty="0"/>
              <a:t>Analysis of the vocabularies</a:t>
            </a:r>
            <a:r>
              <a:rPr lang="en-CA" dirty="0"/>
              <a:t> used for the Naïve Bayes models</a:t>
            </a:r>
          </a:p>
          <a:p>
            <a:pPr marL="514350" indent="-514350">
              <a:lnSpc>
                <a:spcPct val="91000"/>
              </a:lnSpc>
              <a:buFont typeface="+mj-lt"/>
              <a:buAutoNum type="arabicParenR"/>
            </a:pPr>
            <a:r>
              <a:rPr lang="en-CA" u="sng" dirty="0"/>
              <a:t>Analysis of performances</a:t>
            </a:r>
            <a:r>
              <a:rPr lang="en-CA" dirty="0"/>
              <a:t> for each model and dataset</a:t>
            </a:r>
          </a:p>
          <a:p>
            <a:pPr marL="514350" indent="-514350">
              <a:lnSpc>
                <a:spcPct val="91000"/>
              </a:lnSpc>
              <a:buFont typeface="+mj-lt"/>
              <a:buAutoNum type="arabicParenR"/>
            </a:pPr>
            <a:r>
              <a:rPr lang="en-CA" dirty="0"/>
              <a:t>Conclusion on chosen </a:t>
            </a:r>
            <a:r>
              <a:rPr lang="en-CA" u="sng" dirty="0"/>
              <a:t>best model</a:t>
            </a:r>
            <a:endParaRPr lang="en-CA" dirty="0"/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6ED212BF-FC92-49A5-97F2-960EA3ADF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7175" y="2852382"/>
            <a:ext cx="3364792" cy="336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7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462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ACA60-72CC-45E0-B74D-71E21D98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736" y="640081"/>
            <a:ext cx="5916145" cy="38121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800" dirty="0"/>
              <a:t>2.0 analysis of datasets</a:t>
            </a:r>
          </a:p>
        </p:txBody>
      </p:sp>
      <p:pic>
        <p:nvPicPr>
          <p:cNvPr id="6" name="Graphic 5" descr="Bar chart">
            <a:extLst>
              <a:ext uri="{FF2B5EF4-FFF2-40B4-BE49-F238E27FC236}">
                <a16:creationId xmlns:a16="http://schemas.microsoft.com/office/drawing/2014/main" id="{2E4C6037-EC0B-42D0-8770-772DE9D3B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06" y="1622132"/>
            <a:ext cx="3386716" cy="338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1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A9BDE2-0379-4054-A4D3-B58FA8A15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2200" u="sng" dirty="0"/>
              <a:t>Training dataset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A7B01C36-278E-4ED0-80B1-F6299BDAF42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9956741"/>
              </p:ext>
            </p:extLst>
          </p:nvPr>
        </p:nvGraphicFramePr>
        <p:xfrm>
          <a:off x="960438" y="3594100"/>
          <a:ext cx="4818062" cy="258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E6357-8CD1-4CF9-936F-8245F3B9D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2200" u="sng" dirty="0"/>
              <a:t>Testing dataset</a:t>
            </a:r>
          </a:p>
        </p:txBody>
      </p:sp>
      <p:graphicFrame>
        <p:nvGraphicFramePr>
          <p:cNvPr id="22" name="Content Placeholder 21">
            <a:extLst>
              <a:ext uri="{FF2B5EF4-FFF2-40B4-BE49-F238E27FC236}">
                <a16:creationId xmlns:a16="http://schemas.microsoft.com/office/drawing/2014/main" id="{D988F39E-AF38-4DC1-BC82-A91959DC740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308550220"/>
              </p:ext>
            </p:extLst>
          </p:nvPr>
        </p:nvGraphicFramePr>
        <p:xfrm>
          <a:off x="6410326" y="3594101"/>
          <a:ext cx="4818062" cy="2587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7FE3E4F3-59C7-4969-B4B4-A4846B14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900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2.1 Analysis of datasets</a:t>
            </a:r>
            <a:endParaRPr lang="en-CA" sz="5900" dirty="0"/>
          </a:p>
        </p:txBody>
      </p:sp>
    </p:spTree>
    <p:extLst>
      <p:ext uri="{BB962C8B-B14F-4D97-AF65-F5344CB8AC3E}">
        <p14:creationId xmlns:p14="http://schemas.microsoft.com/office/powerpoint/2010/main" val="11603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462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98D53-65E0-4800-9C70-40C649A6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736" y="640081"/>
            <a:ext cx="5916145" cy="38121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200" dirty="0"/>
              <a:t>3.0 </a:t>
            </a:r>
            <a:br>
              <a:rPr lang="en-US" sz="6200" dirty="0"/>
            </a:br>
            <a:r>
              <a:rPr lang="en-US" sz="6200" dirty="0"/>
              <a:t>analysis of vocabularies</a:t>
            </a:r>
          </a:p>
        </p:txBody>
      </p:sp>
      <p:pic>
        <p:nvPicPr>
          <p:cNvPr id="6" name="Graphic 5" descr="Books with solid fill">
            <a:extLst>
              <a:ext uri="{FF2B5EF4-FFF2-40B4-BE49-F238E27FC236}">
                <a16:creationId xmlns:a16="http://schemas.microsoft.com/office/drawing/2014/main" id="{0C754597-00DD-4594-BF2F-DCD8BB44E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6006" y="1622132"/>
            <a:ext cx="3386716" cy="338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77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112A49-B61B-473E-86DC-10FDC2CB9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endParaRPr lang="en-CA" sz="2200" u="sng" dirty="0"/>
          </a:p>
          <a:p>
            <a:pPr algn="ctr"/>
            <a:r>
              <a:rPr lang="en-CA" sz="2400" u="sng" dirty="0"/>
              <a:t>Vocabulary size for each model</a:t>
            </a:r>
          </a:p>
          <a:p>
            <a:endParaRPr lang="en-CA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80346CE3-40A1-4E3B-904A-6B6442E7732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79447724"/>
              </p:ext>
            </p:extLst>
          </p:nvPr>
        </p:nvGraphicFramePr>
        <p:xfrm>
          <a:off x="960438" y="3594100"/>
          <a:ext cx="4818062" cy="258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CD8949-524E-4BA6-BE1D-32E398D7A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45830"/>
            <a:ext cx="4818888" cy="892048"/>
          </a:xfrm>
        </p:spPr>
        <p:txBody>
          <a:bodyPr>
            <a:normAutofit/>
          </a:bodyPr>
          <a:lstStyle/>
          <a:p>
            <a:pPr algn="ctr"/>
            <a:r>
              <a:rPr lang="en-CA" sz="2000" u="sng" dirty="0"/>
              <a:t>Some key notes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5F9A02F-4515-43FB-A344-928D9E9FB6E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1800" dirty="0"/>
              <a:t>Slight time difference for training </a:t>
            </a:r>
          </a:p>
          <a:p>
            <a:pPr marL="731520" lvl="1" indent="-457200">
              <a:lnSpc>
                <a:spcPct val="50000"/>
              </a:lnSpc>
              <a:buFont typeface="Wingdings" panose="05000000000000000000" pitchFamily="2" charset="2"/>
              <a:buChar char="Ø"/>
            </a:pPr>
            <a:r>
              <a:rPr lang="en-CA" sz="1500" dirty="0">
                <a:solidFill>
                  <a:srgbClr val="FF0000"/>
                </a:solidFill>
              </a:rPr>
              <a:t>0.0209</a:t>
            </a:r>
            <a:r>
              <a:rPr lang="en-CA" sz="1500" dirty="0"/>
              <a:t> sec for NB-BOW-OV</a:t>
            </a:r>
          </a:p>
          <a:p>
            <a:pPr marL="731520" lvl="1" indent="-457200">
              <a:lnSpc>
                <a:spcPct val="50000"/>
              </a:lnSpc>
              <a:buFont typeface="Wingdings" panose="05000000000000000000" pitchFamily="2" charset="2"/>
              <a:buChar char="Ø"/>
            </a:pPr>
            <a:r>
              <a:rPr lang="en-CA" sz="1500" dirty="0">
                <a:solidFill>
                  <a:srgbClr val="FF0000"/>
                </a:solidFill>
              </a:rPr>
              <a:t>0.0147</a:t>
            </a:r>
            <a:r>
              <a:rPr lang="en-CA" sz="1500" dirty="0"/>
              <a:t> sec for NB-BOW-FV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1800" dirty="0"/>
              <a:t>Better accuracies when filtering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1800" dirty="0"/>
              <a:t>Removal of stop words (bonus)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ECBD4-7BA1-45E0-A745-39D4BCBC1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3.1 analysis of vocabulary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2449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462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98D53-65E0-4800-9C70-40C649A6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736" y="640081"/>
            <a:ext cx="5916145" cy="38121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200" dirty="0"/>
              <a:t>4.0 </a:t>
            </a:r>
            <a:br>
              <a:rPr lang="en-US" sz="6200" dirty="0"/>
            </a:br>
            <a:r>
              <a:rPr lang="en-US" sz="6200" dirty="0"/>
              <a:t>analysis of performances</a:t>
            </a:r>
          </a:p>
        </p:txBody>
      </p:sp>
      <p:pic>
        <p:nvPicPr>
          <p:cNvPr id="6" name="Graphic 5" descr="Gauge">
            <a:extLst>
              <a:ext uri="{FF2B5EF4-FFF2-40B4-BE49-F238E27FC236}">
                <a16:creationId xmlns:a16="http://schemas.microsoft.com/office/drawing/2014/main" id="{0C754597-00DD-4594-BF2F-DCD8BB44E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06" y="1622132"/>
            <a:ext cx="3386716" cy="338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79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5B42B6-26F8-4E25-839B-FB38F13BE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FC8B6-42C0-4A73-83A7-721091A8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2.2 Analysis of dataset 2</a:t>
            </a:r>
          </a:p>
        </p:txBody>
      </p:sp>
      <p:pic>
        <p:nvPicPr>
          <p:cNvPr id="6" name="Content Placeholder 5" descr="Chart, bar chart&#10;&#10;Description automatically generated">
            <a:extLst>
              <a:ext uri="{FF2B5EF4-FFF2-40B4-BE49-F238E27FC236}">
                <a16:creationId xmlns:a16="http://schemas.microsoft.com/office/drawing/2014/main" id="{59CA1C8A-FCF4-4F36-B5FF-DE163CA9A6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59" y="2582803"/>
            <a:ext cx="11773434" cy="257175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9D0F03-52C4-4F0A-9ADB-D1E6BF3E6376}"/>
              </a:ext>
            </a:extLst>
          </p:cNvPr>
          <p:cNvSpPr txBox="1"/>
          <p:nvPr/>
        </p:nvSpPr>
        <p:spPr>
          <a:xfrm>
            <a:off x="477868" y="5450889"/>
            <a:ext cx="82488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u="sng" dirty="0"/>
              <a:t>Imbalanced</a:t>
            </a:r>
            <a:r>
              <a:rPr lang="en-CA" dirty="0"/>
              <a:t>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Accuracy =&gt; Not an appropriate metric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Relatively larger gap between macro-average F1 and weighted-average F1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Affects values of certain hyper-parameters when trying to tune them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2832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0096E2-0B12-4CAD-BC15-16A0360D1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u="sng" dirty="0"/>
              <a:t>Dataset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9556C-D3E1-46E5-B898-F710BFDEB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u="sng" dirty="0"/>
              <a:t>Dataset 2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3A6657-0FEB-403F-B596-919F0E91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3.1 GNB MODEL PERFORMANCE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BB14EA2-383C-460D-A2A0-3974D32060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27637015"/>
              </p:ext>
            </p:extLst>
          </p:nvPr>
        </p:nvGraphicFramePr>
        <p:xfrm>
          <a:off x="960438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967915927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86951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lang="en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00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Macro-average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0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Weighted-average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05108"/>
                  </a:ext>
                </a:extLst>
              </a:tr>
            </a:tbl>
          </a:graphicData>
        </a:graphic>
      </p:graphicFrame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C7341721-9C8D-4715-B759-D7D2668BF3F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343609120"/>
              </p:ext>
            </p:extLst>
          </p:nvPr>
        </p:nvGraphicFramePr>
        <p:xfrm>
          <a:off x="6410325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779192932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261261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42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Macro-average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38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Weighted-average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40027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D45628A-3215-4FB4-9A51-5C39327C36DB}"/>
              </a:ext>
            </a:extLst>
          </p:cNvPr>
          <p:cNvSpPr txBox="1"/>
          <p:nvPr/>
        </p:nvSpPr>
        <p:spPr>
          <a:xfrm>
            <a:off x="960120" y="5033639"/>
            <a:ext cx="4818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Similar and decent performances for both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Quick runtime for both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3751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0096E2-0B12-4CAD-BC15-16A0360D1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u="sng" dirty="0"/>
              <a:t>Dataset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9556C-D3E1-46E5-B898-F710BFDEB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u="sng" dirty="0"/>
              <a:t>Dataset 2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3A6657-0FEB-403F-B596-919F0E91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5400" dirty="0"/>
              <a:t>3.2 base-dt MODEL PERFORMANCE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BB14EA2-383C-460D-A2A0-3974D32060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72399316"/>
              </p:ext>
            </p:extLst>
          </p:nvPr>
        </p:nvGraphicFramePr>
        <p:xfrm>
          <a:off x="960438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967915927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86951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lang="en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00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Macro-average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0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Weighted-average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05108"/>
                  </a:ext>
                </a:extLst>
              </a:tr>
            </a:tbl>
          </a:graphicData>
        </a:graphic>
      </p:graphicFrame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C7341721-9C8D-4715-B759-D7D2668BF3F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628813806"/>
              </p:ext>
            </p:extLst>
          </p:nvPr>
        </p:nvGraphicFramePr>
        <p:xfrm>
          <a:off x="6410325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779192932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261261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42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Macro-average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38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Weighted-average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40027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D45628A-3215-4FB4-9A51-5C39327C36DB}"/>
              </a:ext>
            </a:extLst>
          </p:cNvPr>
          <p:cNvSpPr txBox="1"/>
          <p:nvPr/>
        </p:nvSpPr>
        <p:spPr>
          <a:xfrm>
            <a:off x="923532" y="5033639"/>
            <a:ext cx="4818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Poor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Quick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F1E86-0291-4974-917E-171C99C6FD6C}"/>
              </a:ext>
            </a:extLst>
          </p:cNvPr>
          <p:cNvSpPr txBox="1"/>
          <p:nvPr/>
        </p:nvSpPr>
        <p:spPr>
          <a:xfrm>
            <a:off x="6450406" y="5033639"/>
            <a:ext cx="481806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Better 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Less classes to consider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More data provided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Quick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80980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F86E37-2B97-43EA-93F0-D359BF5FD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u="sng" dirty="0"/>
              <a:t>Dataset 1</a:t>
            </a:r>
          </a:p>
        </p:txBody>
      </p:sp>
      <p:pic>
        <p:nvPicPr>
          <p:cNvPr id="14" name="Content Placeholder 13" descr="A picture containing chart&#10;&#10;Description automatically generated">
            <a:extLst>
              <a:ext uri="{FF2B5EF4-FFF2-40B4-BE49-F238E27FC236}">
                <a16:creationId xmlns:a16="http://schemas.microsoft.com/office/drawing/2014/main" id="{5F6A1A4E-240C-4F0B-A7A2-4946FA50E4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3293615"/>
            <a:ext cx="5345394" cy="3340871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A1C1FC-5B43-456B-95F2-6874BCC51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u="sng" dirty="0"/>
              <a:t>Dataset 2</a:t>
            </a:r>
          </a:p>
        </p:txBody>
      </p:sp>
      <p:pic>
        <p:nvPicPr>
          <p:cNvPr id="16" name="Content Placeholder 15" descr="A picture containing text&#10;&#10;Description automatically generated">
            <a:extLst>
              <a:ext uri="{FF2B5EF4-FFF2-40B4-BE49-F238E27FC236}">
                <a16:creationId xmlns:a16="http://schemas.microsoft.com/office/drawing/2014/main" id="{7241158E-787B-47B5-A48A-6E97B2B78AC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944" y="3293615"/>
            <a:ext cx="5345394" cy="3340871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6A5816E-659C-4BC2-AFA9-324F99FB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Continued …</a:t>
            </a:r>
          </a:p>
        </p:txBody>
      </p:sp>
    </p:spTree>
    <p:extLst>
      <p:ext uri="{BB962C8B-B14F-4D97-AF65-F5344CB8AC3E}">
        <p14:creationId xmlns:p14="http://schemas.microsoft.com/office/powerpoint/2010/main" val="4038947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0096E2-0B12-4CAD-BC15-16A0360D1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u="sng" dirty="0"/>
              <a:t>Dataset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9556C-D3E1-46E5-B898-F710BFDEB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u="sng" dirty="0"/>
              <a:t>Dataset 2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3A6657-0FEB-403F-B596-919F0E91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5400" dirty="0"/>
              <a:t>3.3 best-dt MODEL PERFORMANCE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BB14EA2-383C-460D-A2A0-3974D32060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31689245"/>
              </p:ext>
            </p:extLst>
          </p:nvPr>
        </p:nvGraphicFramePr>
        <p:xfrm>
          <a:off x="960438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967915927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86951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lang="en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00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Macro-average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0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Weighted-average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05108"/>
                  </a:ext>
                </a:extLst>
              </a:tr>
            </a:tbl>
          </a:graphicData>
        </a:graphic>
      </p:graphicFrame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C7341721-9C8D-4715-B759-D7D2668BF3F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8807934"/>
              </p:ext>
            </p:extLst>
          </p:nvPr>
        </p:nvGraphicFramePr>
        <p:xfrm>
          <a:off x="6410325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779192932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261261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42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Macro-average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38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Weighted-average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400271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C5C0216-D2ED-4970-9A5F-A5CF4D037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035315"/>
              </p:ext>
            </p:extLst>
          </p:nvPr>
        </p:nvGraphicFramePr>
        <p:xfrm>
          <a:off x="6409944" y="4913776"/>
          <a:ext cx="4818062" cy="1737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1588904292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3345680407"/>
                    </a:ext>
                  </a:extLst>
                </a:gridCol>
              </a:tblGrid>
              <a:tr h="224455">
                <a:tc gridSpan="2">
                  <a:txBody>
                    <a:bodyPr/>
                    <a:lstStyle/>
                    <a:p>
                      <a:pPr algn="ctr"/>
                      <a:r>
                        <a:rPr lang="en-CA" dirty="0"/>
                        <a:t>Best combination of hyper-parameters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670672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entropy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968505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max_depth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601505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min_samples_split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129630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min_impurity_decrease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0.0005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106050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class_weight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balanced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3091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9E0CE7-2495-4C3D-84D7-1605D4B3B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785516"/>
              </p:ext>
            </p:extLst>
          </p:nvPr>
        </p:nvGraphicFramePr>
        <p:xfrm>
          <a:off x="960438" y="4913776"/>
          <a:ext cx="4818062" cy="1737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1588904292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3345680407"/>
                    </a:ext>
                  </a:extLst>
                </a:gridCol>
              </a:tblGrid>
              <a:tr h="224455">
                <a:tc gridSpan="2">
                  <a:txBody>
                    <a:bodyPr/>
                    <a:lstStyle/>
                    <a:p>
                      <a:pPr algn="ctr"/>
                      <a:r>
                        <a:rPr lang="en-CA" dirty="0"/>
                        <a:t>Best combination of hyper-parameters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670672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entropy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968505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max_depth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601505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min_samples_split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129630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min_impurity_decrease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106050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class_weight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309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573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628978F-F92C-423D-BF8F-1EBB764C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u="sng" dirty="0"/>
              <a:t>My observations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A5B3A23-E221-4CC3-A717-2EBC779D1F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/>
              <a:t>Slightly better performance (compared to base-dt)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/>
              <a:t>Longer runtime because of grid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/>
              <a:t>Not the ideal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89C1A81-7188-44DD-8CA6-FEE8E6ABE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u="sng" dirty="0"/>
              <a:t>Tuning hyper-parameters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847A6D5-4FEB-42AF-9AEF-0C16F9FBB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3019326"/>
          </a:xfrm>
        </p:spPr>
        <p:txBody>
          <a:bodyPr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highlight>
                  <a:srgbClr val="FFFF00"/>
                </a:highlight>
              </a:rPr>
              <a:t>Gini vs. Entropy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CA" sz="1500" dirty="0"/>
              <a:t>Speed vs.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highlight>
                  <a:srgbClr val="FFFF00"/>
                </a:highlight>
              </a:rPr>
              <a:t>Minimum sample split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CA" sz="1500" dirty="0"/>
              <a:t>The lower, the better generally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highlight>
                  <a:srgbClr val="FFFF00"/>
                </a:highlight>
              </a:rPr>
              <a:t>Class weight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CA" sz="1500" dirty="0"/>
              <a:t>Add more weight for imbalanced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highlight>
                  <a:srgbClr val="FFFF00"/>
                </a:highlight>
              </a:rPr>
              <a:t>Maximum depth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CA" sz="1500" dirty="0"/>
              <a:t>Prevents underfitting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highlight>
                  <a:srgbClr val="FFFF00"/>
                </a:highlight>
              </a:rPr>
              <a:t>Minimum impurity decrease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CA" sz="1500" dirty="0"/>
              <a:t>At its lowest, any splitting is allowed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endParaRPr lang="en-CA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FDBF880-FC43-4F4D-AFB7-FD22EFADA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Continued …</a:t>
            </a:r>
          </a:p>
        </p:txBody>
      </p:sp>
    </p:spTree>
    <p:extLst>
      <p:ext uri="{BB962C8B-B14F-4D97-AF65-F5344CB8AC3E}">
        <p14:creationId xmlns:p14="http://schemas.microsoft.com/office/powerpoint/2010/main" val="3237527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0096E2-0B12-4CAD-BC15-16A0360D1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u="sng" dirty="0"/>
              <a:t>Dataset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9556C-D3E1-46E5-B898-F710BFDEB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u="sng" dirty="0"/>
              <a:t>Dataset 2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3A6657-0FEB-403F-B596-919F0E91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800" dirty="0"/>
              <a:t>3.4 perceptron MODEL PERFORMANCE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BB14EA2-383C-460D-A2A0-3974D32060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9576964"/>
              </p:ext>
            </p:extLst>
          </p:nvPr>
        </p:nvGraphicFramePr>
        <p:xfrm>
          <a:off x="960438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967915927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86951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lang="en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00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Macro-average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0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Weighted-average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05108"/>
                  </a:ext>
                </a:extLst>
              </a:tr>
            </a:tbl>
          </a:graphicData>
        </a:graphic>
      </p:graphicFrame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C7341721-9C8D-4715-B759-D7D2668BF3F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939256329"/>
              </p:ext>
            </p:extLst>
          </p:nvPr>
        </p:nvGraphicFramePr>
        <p:xfrm>
          <a:off x="6410325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779192932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261261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42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Macro-average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38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Weighted-average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40027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D45628A-3215-4FB4-9A51-5C39327C36DB}"/>
              </a:ext>
            </a:extLst>
          </p:cNvPr>
          <p:cNvSpPr txBox="1"/>
          <p:nvPr/>
        </p:nvSpPr>
        <p:spPr>
          <a:xfrm>
            <a:off x="923532" y="5033639"/>
            <a:ext cx="4818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Best performance so far for DS1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Quick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F1E86-0291-4974-917E-171C99C6FD6C}"/>
              </a:ext>
            </a:extLst>
          </p:cNvPr>
          <p:cNvSpPr txBox="1"/>
          <p:nvPr/>
        </p:nvSpPr>
        <p:spPr>
          <a:xfrm>
            <a:off x="6450406" y="5033639"/>
            <a:ext cx="481806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Best performance so far for DS2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Less classes to consider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Quick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Dataset is more imbalanced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Weighted-average F1 &gt; Macro-average F1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39746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0096E2-0B12-4CAD-BC15-16A0360D1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u="sng" dirty="0"/>
              <a:t>Dataset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9556C-D3E1-46E5-B898-F710BFDEB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u="sng" dirty="0"/>
              <a:t>Dataset 2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3A6657-0FEB-403F-B596-919F0E91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5200" dirty="0"/>
              <a:t>3.5 base-mlp MODEL PERFORMANCE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BB14EA2-383C-460D-A2A0-3974D32060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6407025"/>
              </p:ext>
            </p:extLst>
          </p:nvPr>
        </p:nvGraphicFramePr>
        <p:xfrm>
          <a:off x="960438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967915927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86951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lang="en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00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Macro-average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0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Weighted-average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05108"/>
                  </a:ext>
                </a:extLst>
              </a:tr>
            </a:tbl>
          </a:graphicData>
        </a:graphic>
      </p:graphicFrame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C7341721-9C8D-4715-B759-D7D2668BF3F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784664816"/>
              </p:ext>
            </p:extLst>
          </p:nvPr>
        </p:nvGraphicFramePr>
        <p:xfrm>
          <a:off x="6410325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779192932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261261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42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Macro-average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38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Weighted-average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40027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D45628A-3215-4FB4-9A51-5C39327C36DB}"/>
              </a:ext>
            </a:extLst>
          </p:cNvPr>
          <p:cNvSpPr txBox="1"/>
          <p:nvPr/>
        </p:nvSpPr>
        <p:spPr>
          <a:xfrm>
            <a:off x="923532" y="5033639"/>
            <a:ext cx="481806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Worst performance so far!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Low number of iterations (200)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Never converges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Still have back propagation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Gets better with a lot more iterations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Took longer than previous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F1E86-0291-4974-917E-171C99C6FD6C}"/>
              </a:ext>
            </a:extLst>
          </p:cNvPr>
          <p:cNvSpPr txBox="1"/>
          <p:nvPr/>
        </p:nvSpPr>
        <p:spPr>
          <a:xfrm>
            <a:off x="6450406" y="5033639"/>
            <a:ext cx="48180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Good performance (similar to perceptron)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Less classes to consider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Took longer than previous models</a:t>
            </a:r>
          </a:p>
        </p:txBody>
      </p:sp>
    </p:spTree>
    <p:extLst>
      <p:ext uri="{BB962C8B-B14F-4D97-AF65-F5344CB8AC3E}">
        <p14:creationId xmlns:p14="http://schemas.microsoft.com/office/powerpoint/2010/main" val="3651186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F86E37-2B97-43EA-93F0-D359BF5FD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u="sng" dirty="0"/>
              <a:t>Dataset 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A1C1FC-5B43-456B-95F2-6874BCC51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u="sng" dirty="0"/>
              <a:t>Dataset 2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A5816E-659C-4BC2-AFA9-324F99FB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Continued …</a:t>
            </a:r>
          </a:p>
        </p:txBody>
      </p:sp>
      <p:pic>
        <p:nvPicPr>
          <p:cNvPr id="8" name="Content Placeholder 7" descr="Chart&#10;&#10;Description automatically generated">
            <a:extLst>
              <a:ext uri="{FF2B5EF4-FFF2-40B4-BE49-F238E27FC236}">
                <a16:creationId xmlns:a16="http://schemas.microsoft.com/office/drawing/2014/main" id="{FB45D245-FF2A-4725-B774-37BCB6EC88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3210240"/>
            <a:ext cx="5368548" cy="3355343"/>
          </a:xfrm>
        </p:spPr>
      </p:pic>
      <p:pic>
        <p:nvPicPr>
          <p:cNvPr id="12" name="Content Placeholder 11" descr="A picture containing text&#10;&#10;Description automatically generated">
            <a:extLst>
              <a:ext uri="{FF2B5EF4-FFF2-40B4-BE49-F238E27FC236}">
                <a16:creationId xmlns:a16="http://schemas.microsoft.com/office/drawing/2014/main" id="{96E0A8BF-7D40-4C0F-A460-2E7923AFD96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944" y="3210239"/>
            <a:ext cx="5368549" cy="3355343"/>
          </a:xfrm>
        </p:spPr>
      </p:pic>
    </p:spTree>
    <p:extLst>
      <p:ext uri="{BB962C8B-B14F-4D97-AF65-F5344CB8AC3E}">
        <p14:creationId xmlns:p14="http://schemas.microsoft.com/office/powerpoint/2010/main" val="1005950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0096E2-0B12-4CAD-BC15-16A0360D1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u="sng" dirty="0"/>
              <a:t>Dataset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9556C-D3E1-46E5-B898-F710BFDEB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u="sng" dirty="0"/>
              <a:t>Dataset 2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3A6657-0FEB-403F-B596-919F0E91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5200" dirty="0"/>
              <a:t>3.6 best-mlp MODEL PERFORMANCE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BB14EA2-383C-460D-A2A0-3974D32060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60704422"/>
              </p:ext>
            </p:extLst>
          </p:nvPr>
        </p:nvGraphicFramePr>
        <p:xfrm>
          <a:off x="960438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967915927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86951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lang="en-CA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C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00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Macro-average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0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Weighted-average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05108"/>
                  </a:ext>
                </a:extLst>
              </a:tr>
            </a:tbl>
          </a:graphicData>
        </a:graphic>
      </p:graphicFrame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C7341721-9C8D-4715-B759-D7D2668BF3F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565945153"/>
              </p:ext>
            </p:extLst>
          </p:nvPr>
        </p:nvGraphicFramePr>
        <p:xfrm>
          <a:off x="6410325" y="3594100"/>
          <a:ext cx="481806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3779192932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261261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42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Macro-average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381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Weighted-average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400271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C5C0216-D2ED-4970-9A5F-A5CF4D037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13973"/>
              </p:ext>
            </p:extLst>
          </p:nvPr>
        </p:nvGraphicFramePr>
        <p:xfrm>
          <a:off x="6409944" y="4913776"/>
          <a:ext cx="4818062" cy="1188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1588904292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3345680407"/>
                    </a:ext>
                  </a:extLst>
                </a:gridCol>
              </a:tblGrid>
              <a:tr h="224455">
                <a:tc gridSpan="2">
                  <a:txBody>
                    <a:bodyPr/>
                    <a:lstStyle/>
                    <a:p>
                      <a:pPr algn="ctr"/>
                      <a:r>
                        <a:rPr lang="en-CA" dirty="0"/>
                        <a:t>Best combination of hyper-parameters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670672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tanh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968505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hidden_layer_sizes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(200,)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601505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adam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12963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9E0CE7-2495-4C3D-84D7-1605D4B3B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920407"/>
              </p:ext>
            </p:extLst>
          </p:nvPr>
        </p:nvGraphicFramePr>
        <p:xfrm>
          <a:off x="960438" y="4913776"/>
          <a:ext cx="4818062" cy="1188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09031">
                  <a:extLst>
                    <a:ext uri="{9D8B030D-6E8A-4147-A177-3AD203B41FA5}">
                      <a16:colId xmlns:a16="http://schemas.microsoft.com/office/drawing/2014/main" val="1588904292"/>
                    </a:ext>
                  </a:extLst>
                </a:gridCol>
                <a:gridCol w="2409031">
                  <a:extLst>
                    <a:ext uri="{9D8B030D-6E8A-4147-A177-3AD203B41FA5}">
                      <a16:colId xmlns:a16="http://schemas.microsoft.com/office/drawing/2014/main" val="3345680407"/>
                    </a:ext>
                  </a:extLst>
                </a:gridCol>
              </a:tblGrid>
              <a:tr h="224455">
                <a:tc gridSpan="2">
                  <a:txBody>
                    <a:bodyPr/>
                    <a:lstStyle/>
                    <a:p>
                      <a:pPr algn="ctr"/>
                      <a:r>
                        <a:rPr lang="en-CA" dirty="0"/>
                        <a:t>Best combination of hyper-parameters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670672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logistic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968505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hidden_layer_sizes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(200,)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601505"/>
                  </a:ext>
                </a:extLst>
              </a:tr>
              <a:tr h="224455"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/>
                        <a:t>(adam)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129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4837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628978F-F92C-423D-BF8F-1EBB764C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CA" u="sng" dirty="0"/>
              <a:t>My observations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A5B3A23-E221-4CC3-A717-2EBC779D1F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/>
              <a:t>Highest performance so far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/>
              <a:t>Never converges at 200 iterations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/>
              <a:t>Very Long runtime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89C1A81-7188-44DD-8CA6-FEE8E6ABE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CA" u="sng" dirty="0"/>
              <a:t>Tuning hyper-parameters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847A6D5-4FEB-42AF-9AEF-0C16F9FBB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3019326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highlight>
                  <a:srgbClr val="FFFF00"/>
                </a:highlight>
              </a:rPr>
              <a:t>Network architecture matters!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CA" sz="1500" dirty="0"/>
              <a:t>Too few neurons =&gt; Underfitting (worse performance with 5 neurons for example)</a:t>
            </a:r>
            <a:endParaRPr lang="en-CA" sz="1000" dirty="0"/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CA" sz="1500" dirty="0"/>
              <a:t>Too many neurons =&gt; Overfitting and large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highlight>
                  <a:srgbClr val="FFFF00"/>
                </a:highlight>
              </a:rPr>
              <a:t>Increasing number of iterations (bonus)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CA" sz="1500" dirty="0"/>
              <a:t>Slightly increases performance (already high)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CA" sz="1500" dirty="0"/>
              <a:t>Allows for full convergence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CA" sz="1500" dirty="0"/>
              <a:t>Runtime is even longer than previously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8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FDBF880-FC43-4F4D-AFB7-FD22EFADA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Continued …</a:t>
            </a:r>
          </a:p>
        </p:txBody>
      </p:sp>
    </p:spTree>
    <p:extLst>
      <p:ext uri="{BB962C8B-B14F-4D97-AF65-F5344CB8AC3E}">
        <p14:creationId xmlns:p14="http://schemas.microsoft.com/office/powerpoint/2010/main" val="2868892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8FB36D-73B3-45EF-8CD4-221CCC8BE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7835D7-DF12-420F-843A-1C5083D2B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8FED4-A166-4ACF-967F-F5B3DA1D9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CA"/>
              <a:t>4. conclusion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D898A-551D-4EE0-968C-A6E79578E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784143"/>
            <a:ext cx="5782586" cy="3433031"/>
          </a:xfrm>
        </p:spPr>
        <p:txBody>
          <a:bodyPr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Best-MLP is the most performant model for both datasets.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It is also the slowest!</a:t>
            </a:r>
          </a:p>
        </p:txBody>
      </p:sp>
      <p:pic>
        <p:nvPicPr>
          <p:cNvPr id="7" name="Graphic 6" descr="Podium">
            <a:extLst>
              <a:ext uri="{FF2B5EF4-FFF2-40B4-BE49-F238E27FC236}">
                <a16:creationId xmlns:a16="http://schemas.microsoft.com/office/drawing/2014/main" id="{A272AF19-5977-41E6-954F-6584CD667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7175" y="2852382"/>
            <a:ext cx="3364792" cy="336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894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BC106-E751-48A6-99E4-1918359EA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640081"/>
            <a:ext cx="5913098" cy="38121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800" dirty="0"/>
              <a:t>thank you!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3DE97-2163-4D1B-9E97-C163A9BBF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19" y="4646030"/>
            <a:ext cx="5922084" cy="13448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Any questions?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461622A2-4014-4E46-910D-E7FAEAF0C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8122" y="1631046"/>
            <a:ext cx="3368887" cy="336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02534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Blue">
      <a:dk1>
        <a:srgbClr val="000000"/>
      </a:dk1>
      <a:lt1>
        <a:srgbClr val="FFFFFF"/>
      </a:lt1>
      <a:dk2>
        <a:srgbClr val="153A63"/>
      </a:dk2>
      <a:lt2>
        <a:srgbClr val="DBEFF9"/>
      </a:lt2>
      <a:accent1>
        <a:srgbClr val="0F6FC6"/>
      </a:accent1>
      <a:accent2>
        <a:srgbClr val="009DD9"/>
      </a:accent2>
      <a:accent3>
        <a:srgbClr val="09B8C0"/>
      </a:accent3>
      <a:accent4>
        <a:srgbClr val="0EBC8C"/>
      </a:accent4>
      <a:accent5>
        <a:srgbClr val="71B959"/>
      </a:accent5>
      <a:accent6>
        <a:srgbClr val="96B042"/>
      </a:accent6>
      <a:hlink>
        <a:srgbClr val="C37400"/>
      </a:hlink>
      <a:folHlink>
        <a:srgbClr val="4F9085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655</Words>
  <Application>Microsoft Office PowerPoint</Application>
  <PresentationFormat>Widescreen</PresentationFormat>
  <Paragraphs>226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Franklin Gothic Demi Cond</vt:lpstr>
      <vt:lpstr>Franklin Gothic Medium</vt:lpstr>
      <vt:lpstr>Wingdings</vt:lpstr>
      <vt:lpstr>JuxtaposeVTI</vt:lpstr>
      <vt:lpstr>COMP 472 assignment 3</vt:lpstr>
      <vt:lpstr>1. Introduction</vt:lpstr>
      <vt:lpstr>2.0 analysis of datasets</vt:lpstr>
      <vt:lpstr>2.1 Analysis of datasets</vt:lpstr>
      <vt:lpstr>3.0  analysis of vocabularies</vt:lpstr>
      <vt:lpstr>3.1 analysis of vocabulary</vt:lpstr>
      <vt:lpstr>4.0  analysis of performances</vt:lpstr>
      <vt:lpstr>2.2 Analysis of dataset 2</vt:lpstr>
      <vt:lpstr>3.1 GNB MODEL PERFORMANCE</vt:lpstr>
      <vt:lpstr>3.2 base-dt MODEL PERFORMANCE</vt:lpstr>
      <vt:lpstr>Continued …</vt:lpstr>
      <vt:lpstr>3.3 best-dt MODEL PERFORMANCE</vt:lpstr>
      <vt:lpstr>Continued …</vt:lpstr>
      <vt:lpstr>3.4 perceptron MODEL PERFORMANCE</vt:lpstr>
      <vt:lpstr>3.5 base-mlp MODEL PERFORMANCE</vt:lpstr>
      <vt:lpstr>Continued …</vt:lpstr>
      <vt:lpstr>3.6 best-mlp MODEL PERFORMANCE</vt:lpstr>
      <vt:lpstr>Continued …</vt:lpstr>
      <vt:lpstr>4. conclusion</vt:lpstr>
      <vt:lpstr>thank you!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472 assignment 1</dc:title>
  <dc:creator>Maximilien</dc:creator>
  <cp:lastModifiedBy>Maximilien Fathi</cp:lastModifiedBy>
  <cp:revision>28</cp:revision>
  <cp:lastPrinted>2020-10-21T02:23:30Z</cp:lastPrinted>
  <dcterms:created xsi:type="dcterms:W3CDTF">2020-10-21T02:01:35Z</dcterms:created>
  <dcterms:modified xsi:type="dcterms:W3CDTF">2020-12-14T02:15:30Z</dcterms:modified>
</cp:coreProperties>
</file>